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Goals</c:v>
                </c:pt>
              </c:strCache>
            </c:strRef>
          </c:tx>
          <c:spPr>
            <a:solidFill>
              <a:srgbClr val="A8D4B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EB0-4311-B4D1-621EDAB54FB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EB0-4311-B4D1-621EDAB54FB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EB0-4311-B4D1-621EDAB54FB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EB0-4311-B4D1-621EDAB54FBE}"/>
              </c:ext>
            </c:extLst>
          </c:dPt>
          <c:dPt>
            <c:idx val="4"/>
            <c:invertIfNegative val="0"/>
            <c:bubble3D val="0"/>
            <c:spPr>
              <a:solidFill>
                <a:srgbClr val="3A9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EB0-4311-B4D1-621EDAB54FB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EB0-4311-B4D1-621EDAB54FBE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1EB0-4311-B4D1-621EDAB54FBE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1EB0-4311-B4D1-621EDAB54FBE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1EB0-4311-B4D1-621EDAB54FBE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1EB0-4311-B4D1-621EDAB54FBE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1EB0-4311-B4D1-621EDAB54FBE}"/>
              </c:ext>
            </c:extLst>
          </c:dPt>
          <c:dPt>
            <c:idx val="11"/>
            <c:invertIfNegative val="0"/>
            <c:bubble3D val="0"/>
            <c:spPr>
              <a:solidFill>
                <a:srgbClr val="3A9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1EB0-4311-B4D1-621EDAB54FBE}"/>
              </c:ext>
            </c:extLst>
          </c:dPt>
          <c:dPt>
            <c:idx val="12"/>
            <c:invertIfNegative val="0"/>
            <c:bubble3D val="0"/>
            <c:spPr>
              <a:solidFill>
                <a:srgbClr val="3A9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1EB0-4311-B4D1-621EDAB54FBE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1EB0-4311-B4D1-621EDAB54FBE}"/>
              </c:ext>
            </c:extLst>
          </c:dPt>
          <c:dPt>
            <c:idx val="14"/>
            <c:invertIfNegative val="0"/>
            <c:bubble3D val="0"/>
            <c:spPr>
              <a:solidFill>
                <a:srgbClr val="3A9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1EB0-4311-B4D1-621EDAB54FBE}"/>
              </c:ext>
            </c:extLst>
          </c:dPt>
          <c:dPt>
            <c:idx val="15"/>
            <c:invertIfNegative val="0"/>
            <c:bubble3D val="0"/>
            <c:spPr>
              <a:solidFill>
                <a:srgbClr val="1A6B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1EB0-4311-B4D1-621EDAB54FBE}"/>
              </c:ext>
            </c:extLst>
          </c:dPt>
          <c:dPt>
            <c:idx val="16"/>
            <c:invertIfNegative val="0"/>
            <c:bubble3D val="0"/>
            <c:spPr>
              <a:solidFill>
                <a:srgbClr val="1A6B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1EB0-4311-B4D1-621EDAB54FBE}"/>
              </c:ext>
            </c:extLst>
          </c:dPt>
          <c:dPt>
            <c:idx val="17"/>
            <c:invertIfNegative val="0"/>
            <c:bubble3D val="0"/>
            <c:spPr>
              <a:solidFill>
                <a:srgbClr val="3A9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3-1EB0-4311-B4D1-621EDAB54FBE}"/>
              </c:ext>
            </c:extLst>
          </c:dPt>
          <c:dPt>
            <c:idx val="18"/>
            <c:invertIfNegative val="0"/>
            <c:bubble3D val="0"/>
            <c:spPr>
              <a:solidFill>
                <a:srgbClr val="3A9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1EB0-4311-B4D1-621EDAB54FBE}"/>
              </c:ext>
            </c:extLst>
          </c:dPt>
          <c:dPt>
            <c:idx val="19"/>
            <c:invertIfNegative val="0"/>
            <c:bubble3D val="0"/>
            <c:spPr>
              <a:solidFill>
                <a:srgbClr val="1A6B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7-1EB0-4311-B4D1-621EDAB54FBE}"/>
              </c:ext>
            </c:extLst>
          </c:dPt>
          <c:dPt>
            <c:idx val="20"/>
            <c:invertIfNegative val="0"/>
            <c:bubble3D val="0"/>
            <c:spPr>
              <a:solidFill>
                <a:srgbClr val="1A6B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9-1EB0-4311-B4D1-621EDAB54FBE}"/>
              </c:ext>
            </c:extLst>
          </c:dPt>
          <c:dPt>
            <c:idx val="21"/>
            <c:invertIfNegative val="0"/>
            <c:bubble3D val="0"/>
            <c:spPr>
              <a:solidFill>
                <a:srgbClr val="1A6B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B-1EB0-4311-B4D1-621EDAB54FB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D3D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Sheet1!$A$2:$A$23</c:f>
              <c:strCache>
                <c:ptCount val="22"/>
                <c:pt idx="0">
                  <c:v>1930</c:v>
                </c:pt>
                <c:pt idx="1">
                  <c:v>1934</c:v>
                </c:pt>
                <c:pt idx="2">
                  <c:v>1938</c:v>
                </c:pt>
                <c:pt idx="3">
                  <c:v>1950</c:v>
                </c:pt>
                <c:pt idx="4">
                  <c:v>1954</c:v>
                </c:pt>
                <c:pt idx="5">
                  <c:v>1958</c:v>
                </c:pt>
                <c:pt idx="6">
                  <c:v>1962</c:v>
                </c:pt>
                <c:pt idx="7">
                  <c:v>1966</c:v>
                </c:pt>
                <c:pt idx="8">
                  <c:v>1970</c:v>
                </c:pt>
                <c:pt idx="9">
                  <c:v>1974</c:v>
                </c:pt>
                <c:pt idx="10">
                  <c:v>1978</c:v>
                </c:pt>
                <c:pt idx="11">
                  <c:v>1982</c:v>
                </c:pt>
                <c:pt idx="12">
                  <c:v>1986</c:v>
                </c:pt>
                <c:pt idx="13">
                  <c:v>1990</c:v>
                </c:pt>
                <c:pt idx="14">
                  <c:v>1994</c:v>
                </c:pt>
                <c:pt idx="15">
                  <c:v>1998</c:v>
                </c:pt>
                <c:pt idx="16">
                  <c:v>2002</c:v>
                </c:pt>
                <c:pt idx="17">
                  <c:v>2006</c:v>
                </c:pt>
                <c:pt idx="18">
                  <c:v>2010</c:v>
                </c:pt>
                <c:pt idx="19">
                  <c:v>2014</c:v>
                </c:pt>
                <c:pt idx="20">
                  <c:v>2018</c:v>
                </c:pt>
                <c:pt idx="21">
                  <c:v>2022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70</c:v>
                </c:pt>
                <c:pt idx="1">
                  <c:v>70</c:v>
                </c:pt>
                <c:pt idx="2">
                  <c:v>84</c:v>
                </c:pt>
                <c:pt idx="3">
                  <c:v>88</c:v>
                </c:pt>
                <c:pt idx="4">
                  <c:v>140</c:v>
                </c:pt>
                <c:pt idx="5">
                  <c:v>126</c:v>
                </c:pt>
                <c:pt idx="6">
                  <c:v>89</c:v>
                </c:pt>
                <c:pt idx="7">
                  <c:v>89</c:v>
                </c:pt>
                <c:pt idx="8">
                  <c:v>95</c:v>
                </c:pt>
                <c:pt idx="9">
                  <c:v>97</c:v>
                </c:pt>
                <c:pt idx="10">
                  <c:v>102</c:v>
                </c:pt>
                <c:pt idx="11">
                  <c:v>146</c:v>
                </c:pt>
                <c:pt idx="12">
                  <c:v>132</c:v>
                </c:pt>
                <c:pt idx="13">
                  <c:v>115</c:v>
                </c:pt>
                <c:pt idx="14">
                  <c:v>141</c:v>
                </c:pt>
                <c:pt idx="15">
                  <c:v>171</c:v>
                </c:pt>
                <c:pt idx="16">
                  <c:v>161</c:v>
                </c:pt>
                <c:pt idx="17">
                  <c:v>147</c:v>
                </c:pt>
                <c:pt idx="18">
                  <c:v>145</c:v>
                </c:pt>
                <c:pt idx="19">
                  <c:v>171</c:v>
                </c:pt>
                <c:pt idx="20">
                  <c:v>169</c:v>
                </c:pt>
                <c:pt idx="21">
                  <c:v>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C-1EB0-4311-B4D1-621EDAB54F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9F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6B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F4F-45FF-AFE5-0896E2DA6D45}"/>
              </c:ext>
            </c:extLst>
          </c:dPt>
          <c:dPt>
            <c:idx val="1"/>
            <c:bubble3D val="0"/>
            <c:spPr>
              <a:solidFill>
                <a:srgbClr val="1A73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F4F-45FF-AFE5-0896E2DA6D45}"/>
              </c:ext>
            </c:extLst>
          </c:dPt>
          <c:dPt>
            <c:idx val="2"/>
            <c:bubble3D val="0"/>
            <c:spPr>
              <a:solidFill>
                <a:srgbClr val="D4A0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F4F-45FF-AFE5-0896E2DA6D45}"/>
              </c:ext>
            </c:extLst>
          </c:dPt>
          <c:dPt>
            <c:idx val="3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F4F-45FF-AFE5-0896E2DA6D45}"/>
              </c:ext>
            </c:extLst>
          </c:dPt>
          <c:dPt>
            <c:idx val="4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F4F-45FF-AFE5-0896E2DA6D45}"/>
              </c:ext>
            </c:extLst>
          </c:dPt>
          <c:dPt>
            <c:idx val="5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F4F-45FF-AFE5-0896E2DA6D4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4F-45FF-AFE5-0896E2DA6D4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F4F-45FF-AFE5-0896E2DA6D4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F4F-45FF-AFE5-0896E2DA6D45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F4F-45FF-AFE5-0896E2DA6D45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F4F-45FF-AFE5-0896E2DA6D45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F4F-45FF-AFE5-0896E2DA6D4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Brazil (5)</c:v>
                </c:pt>
                <c:pt idx="1">
                  <c:v>Germany (4)</c:v>
                </c:pt>
                <c:pt idx="2">
                  <c:v>Italy (4)</c:v>
                </c:pt>
                <c:pt idx="3">
                  <c:v>Argentina (3)</c:v>
                </c:pt>
                <c:pt idx="4">
                  <c:v>France (2)</c:v>
                </c:pt>
                <c:pt idx="5">
                  <c:v>Others (4)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F4F-45FF-AFE5-0896E2DA6D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Goals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C39-4CA2-8795-E519A2E5B5E2}"/>
              </c:ext>
            </c:extLst>
          </c:dPt>
          <c:dPt>
            <c:idx val="1"/>
            <c:invertIfNegative val="0"/>
            <c:bubble3D val="0"/>
            <c:spPr>
              <a:solidFill>
                <a:srgbClr val="3A9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C39-4CA2-8795-E519A2E5B5E2}"/>
              </c:ext>
            </c:extLst>
          </c:dPt>
          <c:dPt>
            <c:idx val="2"/>
            <c:invertIfNegative val="0"/>
            <c:bubble3D val="0"/>
            <c:spPr>
              <a:solidFill>
                <a:srgbClr val="5AB87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C39-4CA2-8795-E519A2E5B5E2}"/>
              </c:ext>
            </c:extLst>
          </c:dPt>
          <c:dPt>
            <c:idx val="3"/>
            <c:invertIfNegative val="0"/>
            <c:bubble3D val="0"/>
            <c:spPr>
              <a:solidFill>
                <a:srgbClr val="7AD6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C39-4CA2-8795-E519A2E5B5E2}"/>
              </c:ext>
            </c:extLst>
          </c:dPt>
          <c:dPt>
            <c:idx val="4"/>
            <c:invertIfNegative val="0"/>
            <c:bubble3D val="0"/>
            <c:spPr>
              <a:solidFill>
                <a:srgbClr val="9AF4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C39-4CA2-8795-E519A2E5B5E2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4C39-4CA2-8795-E519A2E5B5E2}"/>
              </c:ext>
            </c:extLst>
          </c:dPt>
          <c:dPt>
            <c:idx val="6"/>
            <c:invertIfNegative val="0"/>
            <c:bubble3D val="0"/>
            <c:spPr>
              <a:solidFill>
                <a:srgbClr val="3A9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C39-4CA2-8795-E519A2E5B5E2}"/>
              </c:ext>
            </c:extLst>
          </c:dPt>
          <c:dPt>
            <c:idx val="7"/>
            <c:invertIfNegative val="0"/>
            <c:bubble3D val="0"/>
            <c:spPr>
              <a:solidFill>
                <a:srgbClr val="5AB87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C39-4CA2-8795-E519A2E5B5E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3D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Klose</c:v>
                </c:pt>
                <c:pt idx="1">
                  <c:v>Ronaldo</c:v>
                </c:pt>
                <c:pt idx="2">
                  <c:v>G.Müller</c:v>
                </c:pt>
                <c:pt idx="3">
                  <c:v>Fontaine</c:v>
                </c:pt>
                <c:pt idx="4">
                  <c:v>Messi</c:v>
                </c:pt>
                <c:pt idx="5">
                  <c:v>Pelé</c:v>
                </c:pt>
                <c:pt idx="6">
                  <c:v>Mbappé</c:v>
                </c:pt>
                <c:pt idx="7">
                  <c:v>Kocsis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</c:v>
                </c:pt>
                <c:pt idx="1">
                  <c:v>15</c:v>
                </c:pt>
                <c:pt idx="2">
                  <c:v>14</c:v>
                </c:pt>
                <c:pt idx="3">
                  <c:v>13</c:v>
                </c:pt>
                <c:pt idx="4">
                  <c:v>13</c:v>
                </c:pt>
                <c:pt idx="5">
                  <c:v>12</c:v>
                </c:pt>
                <c:pt idx="6">
                  <c:v>12</c:v>
                </c:pt>
                <c:pt idx="7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C39-4CA2-8795-E519A2E5B5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9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690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A6B3A">
              <a:alpha val="28000"/>
            </a:srgbClr>
          </a:solidFill>
          <a:ln w="12700">
            <a:solidFill>
              <a:srgbClr val="1A6B3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2560320" cy="2560320"/>
          </a:xfrm>
          <a:prstGeom prst="ellipse">
            <a:avLst/>
          </a:prstGeom>
          <a:solidFill>
            <a:srgbClr val="1A6B3A">
              <a:alpha val="28000"/>
            </a:srgbClr>
          </a:solidFill>
          <a:ln w="12700">
            <a:solidFill>
              <a:srgbClr val="1A6B3A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200400"/>
            <a:ext cx="1371600" cy="1371600"/>
          </a:xfrm>
          <a:prstGeom prst="ellipse">
            <a:avLst/>
          </a:prstGeom>
          <a:solidFill>
            <a:srgbClr val="D4A017">
              <a:alpha val="20000"/>
            </a:srgbClr>
          </a:solidFill>
          <a:ln w="12700">
            <a:solidFill>
              <a:srgbClr val="D4A017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  FIFA World Cup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Platform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685800" y="3904488"/>
            <a:ext cx="187452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92277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5800" y="432511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0B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0" y="3904488"/>
            <a:ext cx="187452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392277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43200" y="432511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0B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· 2022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3904488"/>
            <a:ext cx="187452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92277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00600" y="432511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0B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0" y="3904488"/>
            <a:ext cx="187452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92277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758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0" y="432511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0B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Req/sec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0" y="477316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7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Mahindra University  ·  Software Engineering Course 2026  ·  Team of 7</a:t>
            </a: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C273C3-D6C3-B356-912C-989D48501CCC}"/>
              </a:ext>
            </a:extLst>
          </p:cNvPr>
          <p:cNvSpPr txBox="1"/>
          <p:nvPr/>
        </p:nvSpPr>
        <p:spPr>
          <a:xfrm>
            <a:off x="703971" y="2377440"/>
            <a:ext cx="452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Kushal – SE23UARI073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Appana Saketh Krishna Rao – SE23UARI013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Adrija Bandi – SE23UARI004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Charan – SE23UCSE240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A93501-5C75-AC62-AA4C-309D3D673C15}"/>
              </a:ext>
            </a:extLst>
          </p:cNvPr>
          <p:cNvSpPr txBox="1"/>
          <p:nvPr/>
        </p:nvSpPr>
        <p:spPr>
          <a:xfrm>
            <a:off x="5232771" y="2377440"/>
            <a:ext cx="3225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Amrutha – SE23UCSE110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T Nithya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– S23UARI125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K Sameehan — SE23UARI069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3D20"/>
          </a:solidFill>
          <a:ln w="12700">
            <a:solidFill>
              <a:srgbClr val="0D3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 FIFA Analytics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3D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Platform Does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analytics system transforming 12 years of FIFA World Cup raw data into actionable insights — via REST API, SQLite database, caching layer, and interactive dashboards.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2697480" cy="1207008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93392"/>
            <a:ext cx="64008" cy="120700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6654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32257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615184"/>
            <a:ext cx="2487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tournaments · 50 players · 20 teams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27/27 validation checks pass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993392"/>
            <a:ext cx="2697480" cy="1207008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993392"/>
            <a:ext cx="64008" cy="12070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06654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37560" y="232257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KPIs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615184"/>
            <a:ext cx="2487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trend · Stage breakdown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 &amp; country performance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993392"/>
            <a:ext cx="2697480" cy="1207008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993392"/>
            <a:ext cx="64008" cy="1207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206654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72200" y="232257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2615184"/>
            <a:ext cx="2487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endpoints · Swagger docs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· Filtering · Search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319272"/>
            <a:ext cx="2697480" cy="1207008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19272"/>
            <a:ext cx="64008" cy="1207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924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364845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Cache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941064"/>
            <a:ext cx="2487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WAL · 6 indexes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TTL cache (5 min)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0" y="3319272"/>
            <a:ext cx="2697480" cy="1207008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3319272"/>
            <a:ext cx="64008" cy="1207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33924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37560" y="364845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37560" y="3941064"/>
            <a:ext cx="2487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HTML pages · API-connected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fallback mode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3319272"/>
            <a:ext cx="2697480" cy="1207008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3319272"/>
            <a:ext cx="64008" cy="1207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33924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72200" y="364845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72200" y="3941064"/>
            <a:ext cx="2487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758 req/s · 0 errors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users · P95 = 27ms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3D20"/>
          </a:solidFill>
          <a:ln w="12700">
            <a:solidFill>
              <a:srgbClr val="0D3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8449056" cy="896112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14400"/>
            <a:ext cx="82296" cy="8961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6926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1234440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login.html   ·   dashboard.html   ·   matches.html   ·   players.html   ·   timeline.html   ·   api.js (shared client)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98848" y="1828800"/>
            <a:ext cx="128016" cy="201168"/>
          </a:xfrm>
          <a:prstGeom prst="rect">
            <a:avLst/>
          </a:prstGeom>
          <a:solidFill>
            <a:srgbClr val="6B7F74"/>
          </a:solidFill>
          <a:ln w="12700">
            <a:solidFill>
              <a:srgbClr val="6B7F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2057400"/>
            <a:ext cx="8449056" cy="896112"/>
          </a:xfrm>
          <a:prstGeom prst="rect">
            <a:avLst/>
          </a:prstGeom>
          <a:solidFill>
            <a:srgbClr val="1A6B3A">
              <a:alpha val="10000"/>
            </a:srgbClr>
          </a:solidFill>
          <a:ln w="12700">
            <a:solidFill>
              <a:srgbClr val="1A6B3A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2057400"/>
            <a:ext cx="82296" cy="89611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1226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 ·  FastAPI · Port 8000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377440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/api/kpis   ·   /api/tournaments   ·   /api/matches   ·   /api/players   ·   /api/teams   ·   /api/analytics/*   ·   /api/search   ·   /api/cache/*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98848" y="2971800"/>
            <a:ext cx="128016" cy="201168"/>
          </a:xfrm>
          <a:prstGeom prst="rect">
            <a:avLst/>
          </a:prstGeom>
          <a:solidFill>
            <a:srgbClr val="6B7F74"/>
          </a:solidFill>
          <a:ln w="12700">
            <a:solidFill>
              <a:srgbClr val="6B7F7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3200400"/>
            <a:ext cx="8449056" cy="896112"/>
          </a:xfrm>
          <a:prstGeom prst="rect">
            <a:avLst/>
          </a:prstGeom>
          <a:solidFill>
            <a:srgbClr val="D4A017">
              <a:alpha val="10000"/>
            </a:srgbClr>
          </a:solidFill>
          <a:ln w="12700">
            <a:solidFill>
              <a:srgbClr val="D4A017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3200400"/>
            <a:ext cx="82296" cy="89611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25526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LAYER  ·  In-Memory · TTL 5 min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3520440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kpis_{year}   ·   matches_{filters}   ·   top_scorers_{n}   ·   tournaments_{params}   ·   analytics_*   ·   search_{q}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98848" y="4114800"/>
            <a:ext cx="128016" cy="201168"/>
          </a:xfrm>
          <a:prstGeom prst="rect">
            <a:avLst/>
          </a:prstGeom>
          <a:solidFill>
            <a:srgbClr val="6B7F74"/>
          </a:solidFill>
          <a:ln w="12700">
            <a:solidFill>
              <a:srgbClr val="6B7F7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4224528"/>
            <a:ext cx="8449056" cy="896112"/>
          </a:xfrm>
          <a:prstGeom prst="rect">
            <a:avLst/>
          </a:prstGeom>
          <a:solidFill>
            <a:srgbClr val="C0392B">
              <a:alpha val="10000"/>
            </a:srgbClr>
          </a:solidFill>
          <a:ln w="12700">
            <a:solidFill>
              <a:srgbClr val="C0392B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4224528"/>
            <a:ext cx="82296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2793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  ·  SQLite · WAL Mode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4544568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 (22 rows)   ·   matches (67 rows)   ·   players (30 rows)   ·   teams (20 rows)   ·   kpi_cache (precomputed)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3D20"/>
          </a:solidFill>
          <a:ln w="12700">
            <a:solidFill>
              <a:srgbClr val="0D3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 ·  Deliverable 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6032" y="868680"/>
            <a:ext cx="2816352" cy="365760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68680"/>
            <a:ext cx="2816352" cy="420624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01752" y="1353312"/>
            <a:ext cx="2724912" cy="27432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(PK)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1752" y="1938528"/>
            <a:ext cx="2724912" cy="27432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56816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249424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1752" y="2523744"/>
            <a:ext cx="2724912" cy="27432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42032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834640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01752" y="3108960"/>
            <a:ext cx="2724912" cy="27432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27248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goals_per_match ← computed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7472" y="420624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rows · 1930–2022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0" y="868680"/>
            <a:ext cx="2816352" cy="365760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868680"/>
            <a:ext cx="2816352" cy="42062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89611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246120" y="1353312"/>
            <a:ext cx="2724912" cy="27432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1371600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10128" y="1664208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(FK)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1938528"/>
            <a:ext cx="2724912" cy="27432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1956816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10128" y="2249424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team1 / team2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2523744"/>
            <a:ext cx="2724912" cy="27432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542032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score1 / score2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10128" y="2834640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· attendance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46120" y="3108960"/>
            <a:ext cx="2724912" cy="27432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3127248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10128" y="3419856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total_goals ← computed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91840" y="420624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rows · indexed on year, stage, teams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44768" y="868680"/>
            <a:ext cx="2816352" cy="365760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44768" y="868680"/>
            <a:ext cx="2816352" cy="42062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4496" y="89611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190488" y="1353312"/>
            <a:ext cx="2724912" cy="27432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4496" y="1371600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54496" y="1664208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country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90488" y="1938528"/>
            <a:ext cx="2724912" cy="27432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54496" y="1956816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· position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54496" y="2249424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· matches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90488" y="2523744"/>
            <a:ext cx="2724912" cy="27432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54496" y="2542032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 · era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54496" y="2834640"/>
            <a:ext cx="25786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goals_per_match ← computed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36208" y="420624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rows · ranked by goals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56032" y="4599432"/>
            <a:ext cx="8631936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4617720"/>
            <a:ext cx="83576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(20 rows) — name, flag, titles, appearances, matches_played, wins, draws, losses, goals_scored, goals_conceded, win_rate ← computed, goal_difference ← computed   |   kpi_cache — precomputed key/value store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3D20"/>
          </a:solidFill>
          <a:ln w="12700">
            <a:solidFill>
              <a:srgbClr val="0D3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CODE  ·  main.py Explained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69080" cy="2304288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069080" cy="30175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0525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App Setup &amp; CORS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216152"/>
            <a:ext cx="3941064" cy="1069848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43584"/>
            <a:ext cx="3831336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FastAPI(title="FIFA Analytics API")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app.add_middleware(CORSMiddleware,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allow_origins=["*"])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FastAPI app and allows all browser origins — needed for the HTML frontend to work without a proxy.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36592" y="868680"/>
            <a:ext cx="4069080" cy="2304288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868680"/>
            <a:ext cx="4069080" cy="30175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90525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DB Context Manager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216152"/>
            <a:ext cx="3941064" cy="1069848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1243584"/>
            <a:ext cx="3831336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@contextmanager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get_db():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conn = sqlite3.connect(DB_PATH)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conn.row_factory = sqlite3.Row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conn.execute("PRAGMA journal_mode=WAL")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try:  yield conn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finally: conn.close()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28032" y="233172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SQLite in WAL mode for concurrent reads. Closes the connection automatically even if an error occurs.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761488"/>
            <a:ext cx="4069080" cy="2304288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61488"/>
            <a:ext cx="4069080" cy="3017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9806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In-Memory Cache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3108960"/>
            <a:ext cx="3941064" cy="1069848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136392"/>
            <a:ext cx="3831336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_cache: dict = {}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CACHE_TTL = 300  # 5 minutes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cache_get(key):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entry = _cache.get(key)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entry and (time.time()-entry["ts"]) &lt; CACHE_TTL: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entry["data"]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None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11480" y="422452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API responses in a Python dict with timestamps. If data is &lt;5 min old it's returned instantly. Replaces Redis for local deployment.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36592" y="2761488"/>
            <a:ext cx="4069080" cy="2304288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2761488"/>
            <a:ext cx="4069080" cy="3017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79806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Typical Endpoint Pattern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108960"/>
            <a:ext cx="3941064" cy="1069848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3136392"/>
            <a:ext cx="3831336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@app.get("/api/matches")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get_matches(year=None, stage=None):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cache_key = f"matches_{year}_{stage}"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cached := cache_get(cache_key):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cached     # instant return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 get_db() as db: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 = db.execute("SELECT ...", p)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cache_set(cache_key, rows)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28032" y="422452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Check cache → return if hit. (2) Query DB with parameterized SQL. (3) Cache result and return. Prevents SQL injection &amp; repeated DB hits.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3D20"/>
          </a:solidFill>
          <a:ln w="12700">
            <a:solidFill>
              <a:srgbClr val="0D3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  ·  Deliverable 3  ·  http://localhost:8000/docs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4279392" cy="41148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41248"/>
            <a:ext cx="475488" cy="411480"/>
          </a:xfrm>
          <a:prstGeom prst="rect">
            <a:avLst/>
          </a:prstGeom>
          <a:solidFill>
            <a:srgbClr val="1A6B3A">
              <a:alpha val="88000"/>
            </a:srgbClr>
          </a:solidFill>
          <a:ln w="12700">
            <a:solidFill>
              <a:srgbClr val="1A6B3A">
                <a:alpha val="8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23544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86384" y="8686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/api/kpis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86384" y="1069848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 (total goals, matches, nations)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709160" y="841248"/>
            <a:ext cx="4279392" cy="41148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841248"/>
            <a:ext cx="475488" cy="411480"/>
          </a:xfrm>
          <a:prstGeom prst="rect">
            <a:avLst/>
          </a:prstGeom>
          <a:solidFill>
            <a:srgbClr val="1A6B3A">
              <a:alpha val="88000"/>
            </a:srgbClr>
          </a:solidFill>
          <a:ln w="12700">
            <a:solidFill>
              <a:srgbClr val="1A6B3A">
                <a:alpha val="8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923544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239512" y="8686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/api/kpis?year=2022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239512" y="1069848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Year-specific KPI snapshot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56032" y="1307592"/>
            <a:ext cx="4279392" cy="41148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307592"/>
            <a:ext cx="475488" cy="411480"/>
          </a:xfrm>
          <a:prstGeom prst="rect">
            <a:avLst/>
          </a:prstGeom>
          <a:solidFill>
            <a:srgbClr val="1A73E8">
              <a:alpha val="88000"/>
            </a:srgbClr>
          </a:solidFill>
          <a:ln w="12700">
            <a:solidFill>
              <a:srgbClr val="1A73E8">
                <a:alpha val="8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389888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" y="13350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/api/tournaments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86384" y="1536192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22 tournaments (paginated)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709160" y="1307592"/>
            <a:ext cx="4279392" cy="41148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307592"/>
            <a:ext cx="475488" cy="411480"/>
          </a:xfrm>
          <a:prstGeom prst="rect">
            <a:avLst/>
          </a:prstGeom>
          <a:solidFill>
            <a:srgbClr val="1A73E8">
              <a:alpha val="88000"/>
            </a:srgbClr>
          </a:solidFill>
          <a:ln w="12700">
            <a:solidFill>
              <a:srgbClr val="1A73E8">
                <a:alpha val="8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7448" y="1389888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39512" y="13350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/api/tournaments/2022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239512" y="1536192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tournament with finals data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6032" y="1773936"/>
            <a:ext cx="4279392" cy="41148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1773936"/>
            <a:ext cx="475488" cy="411480"/>
          </a:xfrm>
          <a:prstGeom prst="rect">
            <a:avLst/>
          </a:prstGeom>
          <a:solidFill>
            <a:srgbClr val="D4A017">
              <a:alpha val="88000"/>
            </a:srgbClr>
          </a:solidFill>
          <a:ln w="12700">
            <a:solidFill>
              <a:srgbClr val="D4A017">
                <a:alpha val="8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1856232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6384" y="1801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/api/matches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86384" y="2002536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matches — filter by year, stage, team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709160" y="1773936"/>
            <a:ext cx="4279392" cy="41148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773936"/>
            <a:ext cx="475488" cy="411480"/>
          </a:xfrm>
          <a:prstGeom prst="rect">
            <a:avLst/>
          </a:prstGeom>
          <a:solidFill>
            <a:srgbClr val="D4A017">
              <a:alpha val="88000"/>
            </a:srgbClr>
          </a:solidFill>
          <a:ln w="12700">
            <a:solidFill>
              <a:srgbClr val="D4A017">
                <a:alpha val="8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7448" y="1856232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39512" y="1801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/api/matches?year=2022&amp;stage=Final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239512" y="2002536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match results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56032" y="2240280"/>
            <a:ext cx="4279392" cy="41148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6032" y="2240280"/>
            <a:ext cx="475488" cy="411480"/>
          </a:xfrm>
          <a:prstGeom prst="rect">
            <a:avLst/>
          </a:prstGeom>
          <a:solidFill>
            <a:srgbClr val="D4A017">
              <a:alpha val="88000"/>
            </a:srgbClr>
          </a:solidFill>
          <a:ln w="12700">
            <a:solidFill>
              <a:srgbClr val="D4A017">
                <a:alpha val="8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322576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86384" y="22677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/api/matches?team=Germany&amp;min_goals=3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86384" y="2468880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+ goal threshold filter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09160" y="2240280"/>
            <a:ext cx="4279392" cy="41148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2240280"/>
            <a:ext cx="475488" cy="411480"/>
          </a:xfrm>
          <a:prstGeom prst="rect">
            <a:avLst/>
          </a:prstGeom>
          <a:solidFill>
            <a:srgbClr val="C0392B">
              <a:alpha val="88000"/>
            </a:srgbClr>
          </a:solidFill>
          <a:ln w="12700">
            <a:solidFill>
              <a:srgbClr val="C0392B">
                <a:alpha val="88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27448" y="2322576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39512" y="22677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/api/players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239512" y="2468880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players with ranking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56032" y="2706624"/>
            <a:ext cx="4279392" cy="41148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6032" y="2706624"/>
            <a:ext cx="475488" cy="411480"/>
          </a:xfrm>
          <a:prstGeom prst="rect">
            <a:avLst/>
          </a:prstGeom>
          <a:solidFill>
            <a:srgbClr val="C0392B">
              <a:alpha val="88000"/>
            </a:srgbClr>
          </a:solidFill>
          <a:ln w="12700">
            <a:solidFill>
              <a:srgbClr val="C0392B">
                <a:alpha val="8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2788920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86384" y="273405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/api/players/top?n=10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86384" y="2935224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 goal scorers (computed rank)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09160" y="2706624"/>
            <a:ext cx="4279392" cy="41148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09160" y="2706624"/>
            <a:ext cx="475488" cy="411480"/>
          </a:xfrm>
          <a:prstGeom prst="rect">
            <a:avLst/>
          </a:prstGeom>
          <a:solidFill>
            <a:srgbClr val="7C3AED">
              <a:alpha val="88000"/>
            </a:srgbClr>
          </a:solidFill>
          <a:ln w="12700">
            <a:solidFill>
              <a:srgbClr val="7C3AED">
                <a:alpha val="88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27448" y="2788920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239512" y="273405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/api/teams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239512" y="2935224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stats — sorted by titles/wins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56032" y="3172968"/>
            <a:ext cx="4279392" cy="41148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6032" y="3172968"/>
            <a:ext cx="475488" cy="411480"/>
          </a:xfrm>
          <a:prstGeom prst="rect">
            <a:avLst/>
          </a:prstGeom>
          <a:solidFill>
            <a:srgbClr val="7C3AED">
              <a:alpha val="88000"/>
            </a:srgbClr>
          </a:solidFill>
          <a:ln w="12700">
            <a:solidFill>
              <a:srgbClr val="7C3AED">
                <a:alpha val="88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255264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86384" y="32004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/api/teams/Brazil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86384" y="3401568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team — matches + top players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709160" y="3172968"/>
            <a:ext cx="4279392" cy="41148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09160" y="3172968"/>
            <a:ext cx="475488" cy="411480"/>
          </a:xfrm>
          <a:prstGeom prst="rect">
            <a:avLst/>
          </a:prstGeom>
          <a:solidFill>
            <a:srgbClr val="0891B2">
              <a:alpha val="88000"/>
            </a:srgbClr>
          </a:solidFill>
          <a:ln w="12700">
            <a:solidFill>
              <a:srgbClr val="0891B2">
                <a:alpha val="88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27448" y="3255264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239512" y="32004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/api/analytics/goals-trend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239512" y="3401568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per tournament 1930–2022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56032" y="3639312"/>
            <a:ext cx="4279392" cy="41148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56032" y="3639312"/>
            <a:ext cx="475488" cy="411480"/>
          </a:xfrm>
          <a:prstGeom prst="rect">
            <a:avLst/>
          </a:prstGeom>
          <a:solidFill>
            <a:srgbClr val="0891B2">
              <a:alpha val="88000"/>
            </a:srgbClr>
          </a:solidFill>
          <a:ln w="12700">
            <a:solidFill>
              <a:srgbClr val="0891B2">
                <a:alpha val="88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3721608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86384" y="36667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/api/analytics/stage-breakdown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86384" y="3867912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goals by match stage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709160" y="3639312"/>
            <a:ext cx="4279392" cy="41148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09160" y="3639312"/>
            <a:ext cx="475488" cy="411480"/>
          </a:xfrm>
          <a:prstGeom prst="rect">
            <a:avLst/>
          </a:prstGeom>
          <a:solidFill>
            <a:srgbClr val="0891B2">
              <a:alpha val="88000"/>
            </a:srgbClr>
          </a:solidFill>
          <a:ln w="12700">
            <a:solidFill>
              <a:srgbClr val="0891B2">
                <a:alpha val="88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27448" y="3721608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239512" y="36667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/api/analytics/country-performance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239512" y="3867912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win-rate and goal-diff rankings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56032" y="4105656"/>
            <a:ext cx="4279392" cy="41148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56032" y="4105656"/>
            <a:ext cx="475488" cy="411480"/>
          </a:xfrm>
          <a:prstGeom prst="rect">
            <a:avLst/>
          </a:prstGeom>
          <a:solidFill>
            <a:srgbClr val="0891B2">
              <a:alpha val="88000"/>
            </a:srgbClr>
          </a:solidFill>
          <a:ln w="12700">
            <a:solidFill>
              <a:srgbClr val="0891B2">
                <a:alpha val="88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4187952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86384" y="4133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/api/analytics/highest-scoring?n=10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86384" y="4334256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 highest-scoring matches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709160" y="4105656"/>
            <a:ext cx="4279392" cy="41148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09160" y="4105656"/>
            <a:ext cx="475488" cy="411480"/>
          </a:xfrm>
          <a:prstGeom prst="rect">
            <a:avLst/>
          </a:prstGeom>
          <a:solidFill>
            <a:srgbClr val="0891B2">
              <a:alpha val="88000"/>
            </a:srgbClr>
          </a:solidFill>
          <a:ln w="12700">
            <a:solidFill>
              <a:srgbClr val="0891B2">
                <a:alpha val="88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27448" y="4187952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239512" y="4133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/api/analytics/winners-breakdown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239512" y="4334256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by country with years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256032" y="4572000"/>
            <a:ext cx="4279392" cy="41148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56032" y="4572000"/>
            <a:ext cx="475488" cy="411480"/>
          </a:xfrm>
          <a:prstGeom prst="rect">
            <a:avLst/>
          </a:prstGeom>
          <a:solidFill>
            <a:srgbClr val="6B7F74">
              <a:alpha val="88000"/>
            </a:srgbClr>
          </a:solidFill>
          <a:ln w="12700">
            <a:solidFill>
              <a:srgbClr val="6B7F74">
                <a:alpha val="88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4320" y="4654296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786384" y="45994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/api/search?q=Germany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86384" y="4800600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search: players, teams, matches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709160" y="4572000"/>
            <a:ext cx="4279392" cy="41148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709160" y="4572000"/>
            <a:ext cx="475488" cy="411480"/>
          </a:xfrm>
          <a:prstGeom prst="rect">
            <a:avLst/>
          </a:prstGeom>
          <a:solidFill>
            <a:srgbClr val="C0392B">
              <a:alpha val="88000"/>
            </a:srgbClr>
          </a:solidFill>
          <a:ln w="12700">
            <a:solidFill>
              <a:srgbClr val="C0392B">
                <a:alpha val="88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727448" y="4654296"/>
            <a:ext cx="438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5239512" y="45994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/api/cache/flush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5239512" y="4800600"/>
            <a:ext cx="3657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in-memory cache (admin)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3D20"/>
          </a:solidFill>
          <a:ln w="12700">
            <a:solidFill>
              <a:srgbClr val="0D3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  ·  Step-by-Step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834640" cy="1261872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126187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92354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941832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Backend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2336" y="12161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python start.py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02336" y="14173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starts on port 8000. DB auto-created if missing. See '🚀 FIFA Analytics API ready'.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12848" y="1892808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46120" y="868680"/>
            <a:ext cx="2834640" cy="1261872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868680"/>
            <a:ext cx="64008" cy="126187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92354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76472" y="941832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 Docs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74136" y="12161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localhost:8000/docs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74136" y="14173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shows all 18 endpoints. Click any → 'Try it out' → Execute. Show GET /api/kpis first.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184648" y="1892808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0" y="868680"/>
            <a:ext cx="2834640" cy="1261872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868680"/>
            <a:ext cx="64008" cy="12618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92354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48272" y="941832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45936" y="12161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frontend/login.html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45936" y="14173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badge shows '🟢 API Live'. Click 'Continue as Guest' to skip credentials.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156448" y="1892808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Frontend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240280"/>
            <a:ext cx="2834640" cy="1261872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240280"/>
            <a:ext cx="64008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229514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4672" y="2313432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02336" y="25877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dashboard.html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2336" y="2788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 pull live data. Goals chart renders from /api/analytics/goals-trend. Change year dropdown to filter.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212848" y="3264408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46120" y="2240280"/>
            <a:ext cx="2834640" cy="1261872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2240280"/>
            <a:ext cx="64008" cy="1261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74136" y="229514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776472" y="2313432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Explorer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374136" y="25877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matches.html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74136" y="2788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match cards. Type 'Germany' to filter. Switch stage to 'Final'. Click any card for attendance modal.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184648" y="3264408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matches.html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17920" y="2240280"/>
            <a:ext cx="2834640" cy="1261872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2240280"/>
            <a:ext cx="64008" cy="12618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45936" y="229514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48272" y="2313432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Analytics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345936" y="25877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players.html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45936" y="2788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Podium shows top 3 scorers. Animated bar chart ranks all 30. Countries tab has win-rate bars.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156448" y="3264408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players.html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3611880"/>
            <a:ext cx="2834640" cy="1261872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3611880"/>
            <a:ext cx="64008" cy="1261872"/>
          </a:xfrm>
          <a:prstGeom prst="rect">
            <a:avLst/>
          </a:prstGeom>
          <a:solidFill>
            <a:srgbClr val="6B7F74"/>
          </a:solidFill>
          <a:ln w="12700">
            <a:solidFill>
              <a:srgbClr val="6B7F7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2336" y="366674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F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04672" y="3685032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02336" y="39593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timeline.html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02336" y="4160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Zigzag timeline 1930–2022. Milestone badges on landmark years. Stats strip + goals chart.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212848" y="4636008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timeline.html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246120" y="3611880"/>
            <a:ext cx="2834640" cy="1261872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246120" y="3611880"/>
            <a:ext cx="64008" cy="126187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74136" y="366674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776472" y="3685032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3374136" y="39593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python tests/validate_dataset.py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374136" y="4160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27 data quality checks. Shows ✅/❌ per check. Outputs JSON report. 100% pass rate.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184648" y="4636008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217920" y="3611880"/>
            <a:ext cx="2834640" cy="1261872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217920" y="3611880"/>
            <a:ext cx="64008" cy="126187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45936" y="366674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748272" y="3685032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6345936" y="39593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python tests/load_test.py --users 15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345936" y="4160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concurrent users × 15 seconds. Shows 758 req/s, 19ms avg, P95=27ms, 0 errors.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8156448" y="4636008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3D20"/>
          </a:solidFill>
          <a:ln w="12700">
            <a:solidFill>
              <a:srgbClr val="0D3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CODE  ·  How Pages 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69080" cy="416052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069080" cy="329184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9611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api.js — Shared API Client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234440"/>
            <a:ext cx="3931920" cy="205740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52728"/>
            <a:ext cx="380390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apiFetch(endpoint, fallback=null)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= await fetch(API_BASE + endpoint,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signal: AbortSignal.timeout(3000) });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(!res.ok) throw new Error('HTTP '+res.status);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await res.json();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catch(e)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Falls back to local static data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typeof fallback==='function'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? fallback() : fallback;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API =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kpis:       (yr) =&gt; apiFetch('/kpis?year='+yr),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matches:    (p)  =&gt; apiFetch('/matches'+p),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topScorers: (n)  =&gt; apiFetch('/players/top?n='+n),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goalsTrend: ()   =&gt; apiFetch('/analytics/goals-trend'),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38912" y="3364992"/>
            <a:ext cx="38770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HTML page loads api.js and calls these methods. If the backend is offline the page falls back to embedded static data — the UI never breaks. The status badge shows 🟢 Live or 🟡 Demo Mode.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36592" y="868680"/>
            <a:ext cx="4069080" cy="416052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868680"/>
            <a:ext cx="406908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896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 — Page Init Pattern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9744" y="1234440"/>
            <a:ext cx="3931920" cy="205740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1252728"/>
            <a:ext cx="380390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loadDashboard()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year = document.getElementById(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'yearFilter').value || null;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Fetch KPIs from API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kpis = await API.kpis(year);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document.getElementById('kpi-goals')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.textContent = kpis.total_goals.toLocaleString();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2. Fetch + render chart data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trend = await API.goalsTrend()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?? FALLBACK_TREND;   // static fallback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renderGoalsChart(trend);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3. Render leaderboard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winners = await API.winners();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renderLeaderboard(winners);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online = await checkAPIStatus();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badge.textContent = online ? '🟢 API Live' : '🟡 Demo';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46320" y="3364992"/>
            <a:ext cx="38770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follows: (1) fetch from API on load, (2) render into DOM, (3) re-fetch when filters change. All pages degrade gracefully with embedded fallback data if the API is offline.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3D20"/>
          </a:solidFill>
          <a:ln w="12700">
            <a:solidFill>
              <a:srgbClr val="0D3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 ·  seed_db.py  &amp;  validate_dataset.py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69080" cy="416052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069080" cy="329184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9611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seed_db.py  ·  Deliverable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234440"/>
            <a:ext cx="3931920" cy="18745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52728"/>
            <a:ext cx="380390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create_db():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 = sqlite3.connect(DB_PATH)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conn.cursor()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c.executescript("""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CREATE TABLE tournaments (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year INTEGER UNIQUE NOT NULL,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goals_per_match REAL GENERATED ALWAYS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AS (ROUND(CAST(goals AS REAL)/matches,2))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STORED  -- computed by SQLite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CREATE INDEX idx_matches_year ON matches(year);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CREATE INDEX idx_players_goals ON players(goals);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c.executemany("INSERT OR IGNORE ...", DATA)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k,v in kpis.items():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c.execute("INSERT OR REPLACE INTO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kpi_cache VALUES (?,?)",(k,v))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conn.commit()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402336" y="3182112"/>
            <a:ext cx="146304" cy="146304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1638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ALWAYS AS — SQLite computes goals_per_match automatically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2336" y="3584448"/>
            <a:ext cx="146304" cy="146304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566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OR IGNORE — safe to re-run without duplicating data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2336" y="3986784"/>
            <a:ext cx="146304" cy="146304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9684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executemany() — all rows in one transaction (fast)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2336" y="4389120"/>
            <a:ext cx="146304" cy="146304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3708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Pre-warming kpi_cache — dashboard KPIs respond instantly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36592" y="868680"/>
            <a:ext cx="4069080" cy="416052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36592" y="868680"/>
            <a:ext cx="4069080" cy="32918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896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validate_dataset.py  ·  27 Checks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9744" y="1234440"/>
            <a:ext cx="3931920" cy="18745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2896" y="1252728"/>
            <a:ext cx="380390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check(name, query, expected_fn):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c.execute(query).fetchone()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= result[0] if result else None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ok = expected_fn(val)   # lambda v: v==0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 = "✅ PASS" if ok else "❌ FAIL"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print(f"{status}  {name} → {val}")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check("No NULL tournament winners",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"SELECT COUNT(*) FROM tournaments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WHERE winner IS NULL",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lambda v: v == 0)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check("Klose is all-time top scorer",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"SELECT name FROM players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ORDER BY goals DESC LIMIT 1",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lambda v: v == "Miroslav Klose")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check("Computed column correct",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"SELECT COUNT(*) FROM matches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WHERE total_goals != score1 + score2",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lambda v: v == 0)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4809744" y="3163824"/>
            <a:ext cx="3931920" cy="256032"/>
          </a:xfrm>
          <a:prstGeom prst="rect">
            <a:avLst/>
          </a:prstGeom>
          <a:solidFill>
            <a:srgbClr val="E8F5EE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32004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Completeness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39712" y="3200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checks — row counts, year range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09744" y="3456432"/>
            <a:ext cx="3931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349300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Nulls / Integrity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839712" y="34930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checks — no NULLs, no negatives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9744" y="3749040"/>
            <a:ext cx="3931920" cy="256032"/>
          </a:xfrm>
          <a:prstGeom prst="rect">
            <a:avLst/>
          </a:prstGeom>
          <a:solidFill>
            <a:srgbClr val="E8F5EE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37856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Range / Sanity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39712" y="378561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checks — goals in valid range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9744" y="4041648"/>
            <a:ext cx="3931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40782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Referential Integrity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39712" y="40782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checks — FK validity, stages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9744" y="4334256"/>
            <a:ext cx="3931920" cy="256032"/>
          </a:xfrm>
          <a:prstGeom prst="rect">
            <a:avLst/>
          </a:prstGeom>
          <a:solidFill>
            <a:srgbClr val="E8F5EE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82896" y="43708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Computed Columns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839712" y="43708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checks — math is correct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09744" y="4626864"/>
            <a:ext cx="3931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46634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Analytics Integrity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839712" y="46634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checks — Brazil=5, Klose=16 goals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09744" y="4636008"/>
            <a:ext cx="3931920" cy="292608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82896" y="4654296"/>
            <a:ext cx="37856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27 / 27 checks passed  ·  100%  ·  EXCELLENT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3D20"/>
          </a:solidFill>
          <a:ln w="12700">
            <a:solidFill>
              <a:srgbClr val="0D3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&amp; PERFORMANCE  ·  Deliverables 4 + 6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D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 Request 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3291840" cy="438912"/>
          </a:xfrm>
          <a:prstGeom prst="rect">
            <a:avLst/>
          </a:prstGeom>
          <a:solidFill>
            <a:srgbClr val="7C3AED">
              <a:alpha val="92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350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84248" y="1737360"/>
            <a:ext cx="118872" cy="128016"/>
          </a:xfrm>
          <a:prstGeom prst="rect">
            <a:avLst/>
          </a:prstGeom>
          <a:solidFill>
            <a:srgbClr val="6B7F74"/>
          </a:solidFill>
          <a:ln w="12700">
            <a:solidFill>
              <a:srgbClr val="6B7F7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65376"/>
            <a:ext cx="3291840" cy="438912"/>
          </a:xfrm>
          <a:prstGeom prst="rect">
            <a:avLst/>
          </a:prstGeom>
          <a:solidFill>
            <a:srgbClr val="D4A017">
              <a:alpha val="92000"/>
            </a:srgbClr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9019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_cache dict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84248" y="2304288"/>
            <a:ext cx="118872" cy="128016"/>
          </a:xfrm>
          <a:prstGeom prst="rect">
            <a:avLst/>
          </a:prstGeom>
          <a:solidFill>
            <a:srgbClr val="6B7F74"/>
          </a:solidFill>
          <a:ln w="12700">
            <a:solidFill>
              <a:srgbClr val="6B7F7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32304"/>
            <a:ext cx="3291840" cy="438912"/>
          </a:xfrm>
          <a:prstGeom prst="rect">
            <a:avLst/>
          </a:prstGeom>
          <a:solidFill>
            <a:srgbClr val="1A6B3A">
              <a:alpha val="92000"/>
            </a:srgbClr>
          </a:solidFill>
          <a:ln w="1270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HIT? Return (&lt;1ms)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84248" y="2871216"/>
            <a:ext cx="118872" cy="128016"/>
          </a:xfrm>
          <a:prstGeom prst="rect">
            <a:avLst/>
          </a:prstGeom>
          <a:solidFill>
            <a:srgbClr val="6B7F74"/>
          </a:solidFill>
          <a:ln w="12700">
            <a:solidFill>
              <a:srgbClr val="6B7F7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99232"/>
            <a:ext cx="3291840" cy="438912"/>
          </a:xfrm>
          <a:prstGeom prst="rect">
            <a:avLst/>
          </a:prstGeom>
          <a:solidFill>
            <a:srgbClr val="C0392B">
              <a:alpha val="92000"/>
            </a:srgbClr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0358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 — Query SQLite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4248" y="3438144"/>
            <a:ext cx="118872" cy="128016"/>
          </a:xfrm>
          <a:prstGeom prst="rect">
            <a:avLst/>
          </a:prstGeom>
          <a:solidFill>
            <a:srgbClr val="6B7F74"/>
          </a:solidFill>
          <a:ln w="12700">
            <a:solidFill>
              <a:srgbClr val="6B7F7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566160"/>
            <a:ext cx="3291840" cy="438912"/>
          </a:xfrm>
          <a:prstGeom prst="rect">
            <a:avLst/>
          </a:prstGeom>
          <a:solidFill>
            <a:srgbClr val="1A73E8">
              <a:alpha val="92000"/>
            </a:srgbClr>
          </a:solidFill>
          <a:ln w="12700">
            <a:solidFill>
              <a:srgbClr val="1A7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6027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cache + timestamp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84248" y="4005072"/>
            <a:ext cx="118872" cy="128016"/>
          </a:xfrm>
          <a:prstGeom prst="rect">
            <a:avLst/>
          </a:prstGeom>
          <a:solidFill>
            <a:srgbClr val="6B7F74"/>
          </a:solidFill>
          <a:ln w="12700">
            <a:solidFill>
              <a:srgbClr val="6B7F7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133088"/>
            <a:ext cx="3291840" cy="438912"/>
          </a:xfrm>
          <a:prstGeom prst="rect">
            <a:avLst/>
          </a:prstGeom>
          <a:solidFill>
            <a:srgbClr val="7C3AED">
              <a:alpha val="92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41696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JSON Response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0" y="8686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D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Test Results  ·  15 users × 15 sec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97680" y="1316736"/>
            <a:ext cx="2240280" cy="96012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07408" y="1389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Throughput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07408" y="17190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758 req/s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720840" y="1316736"/>
            <a:ext cx="2240280" cy="96012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30568" y="1389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Avg Latency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30568" y="17190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19.7 ms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297680" y="2377440"/>
            <a:ext cx="2240280" cy="96012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407408" y="2450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P95 Latency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07408" y="277977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27.1 ms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720840" y="2377440"/>
            <a:ext cx="2240280" cy="96012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30568" y="2450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Error Rate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30568" y="277977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~0.00%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4297680" y="3438144"/>
            <a:ext cx="2240280" cy="96012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407408" y="35112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Total Requests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07408" y="38404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11,475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6720840" y="3438144"/>
            <a:ext cx="2240280" cy="960120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830568" y="35112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Grade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30568" y="38404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EXCELLENT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4297680" y="4617720"/>
            <a:ext cx="4526280" cy="365760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07408" y="4636008"/>
            <a:ext cx="4315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reduces DB calls by ~95% after first request. TTL=5 min keeps data fresh. Admin flush: DELETE /api/cache/flush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3D20"/>
          </a:solidFill>
          <a:ln w="12700">
            <a:solidFill>
              <a:srgbClr val="0D3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INSIGHTS  ·  Goals Per Tournament (1930–2022)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914400"/>
          <a:ext cx="60350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537960" y="960120"/>
            <a:ext cx="2286000" cy="914400"/>
          </a:xfrm>
          <a:prstGeom prst="rect">
            <a:avLst/>
          </a:prstGeom>
          <a:solidFill>
            <a:srgbClr val="F7F9F7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37960" y="960120"/>
            <a:ext cx="64008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56832" y="100584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1954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656832" y="123444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140 goals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656832" y="15270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Switzerland — most goals/match ever (5.38). Miracle of Bern.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537960" y="1965960"/>
            <a:ext cx="2286000" cy="914400"/>
          </a:xfrm>
          <a:prstGeom prst="rect">
            <a:avLst/>
          </a:prstGeom>
          <a:solidFill>
            <a:srgbClr val="F7F9F7"/>
          </a:solidFill>
          <a:ln w="12700">
            <a:solidFill>
              <a:srgbClr val="1A73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1965960"/>
            <a:ext cx="64008" cy="9144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56832" y="201168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1982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656832" y="224028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 goals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656832" y="253288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— expanded to 24 teams, more matches.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537960" y="2971800"/>
            <a:ext cx="2286000" cy="914400"/>
          </a:xfrm>
          <a:prstGeom prst="rect">
            <a:avLst/>
          </a:prstGeom>
          <a:solidFill>
            <a:srgbClr val="F7F9F7"/>
          </a:solidFill>
          <a:ln w="1270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37960" y="2971800"/>
            <a:ext cx="64008" cy="9144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56832" y="30175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656832" y="324612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171 goals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656832" y="353872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— expanded to 32 teams. All-time record tied.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537960" y="3977640"/>
            <a:ext cx="2286000" cy="914400"/>
          </a:xfrm>
          <a:prstGeom prst="rect">
            <a:avLst/>
          </a:prstGeom>
          <a:solidFill>
            <a:srgbClr val="F7F9F7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37960" y="3977640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56832" y="402336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656832" y="425196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172 goals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656832" y="454456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 — highest ever! Greatest final: Argentina vs France 3-3.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3D20"/>
          </a:solidFill>
          <a:ln w="12700">
            <a:solidFill>
              <a:srgbClr val="0D3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PLAYER ANALYTICS  ·  Data Insights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D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Cup Titles Distribution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170432"/>
          <a:ext cx="41148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709160" y="84124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D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All-Time Top 8 Scorers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709160" y="1170432"/>
          <a:ext cx="41148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4206240"/>
            <a:ext cx="2029968" cy="804672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20040" y="4242816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5.38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20040" y="4590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Goals/Match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20040" y="477316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1954 Switzerland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2514600" y="4206240"/>
            <a:ext cx="2029968" cy="804672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514600" y="4242816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66.7%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2514600" y="4590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Win Rate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514600" y="477316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76W / 114 played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4709160" y="4206240"/>
            <a:ext cx="2029968" cy="804672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709160" y="4242816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7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200,000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709160" y="4590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1950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709160" y="477316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Maracanã record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6903720" y="4206240"/>
            <a:ext cx="2029968" cy="804672"/>
          </a:xfrm>
          <a:prstGeom prst="rect">
            <a:avLst/>
          </a:prstGeom>
          <a:solidFill>
            <a:srgbClr val="F7F9F7"/>
          </a:solidFill>
          <a:ln w="12700">
            <a:solidFill>
              <a:srgbClr val="DC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903720" y="4242816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7–1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903720" y="4590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vs Brazil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903720" y="477316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WC semi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3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A6B3A">
              <a:alpha val="32000"/>
            </a:srgbClr>
          </a:solidFill>
          <a:ln w="12700">
            <a:solidFill>
              <a:srgbClr val="1A6B3A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474720" cy="3474720"/>
          </a:xfrm>
          <a:prstGeom prst="ellipse">
            <a:avLst/>
          </a:prstGeom>
          <a:solidFill>
            <a:srgbClr val="1A6B3A">
              <a:alpha val="32000"/>
            </a:srgbClr>
          </a:solidFill>
          <a:ln w="12700">
            <a:solidFill>
              <a:srgbClr val="1A6B3A">
                <a:alpha val="3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Card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783080"/>
            <a:ext cx="4206240" cy="5760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37944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server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start.py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73752" y="1783080"/>
            <a:ext cx="4206240" cy="5760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0912" y="1837944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10912" y="20574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http://localhost:8000/docs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487168"/>
            <a:ext cx="4206240" cy="5760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4203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7614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frontend/dashboard.html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73752" y="2487168"/>
            <a:ext cx="4206240" cy="5760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254203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10912" y="27614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tests/validate_dataset.py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191256"/>
            <a:ext cx="4206240" cy="5760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46120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4655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tests/load_test.py --users 15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73752" y="3191256"/>
            <a:ext cx="4206240" cy="5760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3246120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cache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10912" y="34655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/api/cache/flush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895344"/>
            <a:ext cx="4206240" cy="5760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50208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location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41696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backend/fifa.db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73752" y="3895344"/>
            <a:ext cx="4206240" cy="5760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3950208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endpoints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10912" y="41696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6 in this deck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7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Mahindra University  ·  Software Engineering Project 2026  ·  Team of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2545</Words>
  <Application>Microsoft Macintosh PowerPoint</Application>
  <PresentationFormat>On-screen Show (16:9)</PresentationFormat>
  <Paragraphs>404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FIFA Analytics Platform</dc:title>
  <dc:subject>PptxGenJS Presentation</dc:subject>
  <dc:creator>Mahindra University SE Team</dc:creator>
  <cp:lastModifiedBy>Adrija Bandi</cp:lastModifiedBy>
  <cp:revision>5</cp:revision>
  <dcterms:created xsi:type="dcterms:W3CDTF">2026-05-03T12:04:18Z</dcterms:created>
  <dcterms:modified xsi:type="dcterms:W3CDTF">2026-05-04T16:27:09Z</dcterms:modified>
</cp:coreProperties>
</file>